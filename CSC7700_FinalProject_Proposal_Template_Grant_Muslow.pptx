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10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79" d="100"/>
          <a:sy n="79" d="100"/>
        </p:scale>
        <p:origin x="8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D75395-589B-46EF-9F95-3CB9FC79856B}" type="datetimeFigureOut">
              <a:rPr lang="en-US" smtClean="0"/>
              <a:t>4/7/2025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5D205-C5A5-490E-BE4C-C2ECCE7A0367}" type="slidenum">
              <a:rPr lang="en-US" smtClean="0"/>
              <a:t>‹#›</a:t>
            </a:fld>
            <a:endParaRPr lang="en-US"/>
          </a:p>
        </p:txBody>
      </p:sp>
    </p:spTree>
    <p:extLst>
      <p:ext uri="{BB962C8B-B14F-4D97-AF65-F5344CB8AC3E}">
        <p14:creationId xmlns:p14="http://schemas.microsoft.com/office/powerpoint/2010/main" val="2325325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F5D205-C5A5-490E-BE4C-C2ECCE7A0367}" type="slidenum">
              <a:rPr lang="en-US" smtClean="0"/>
              <a:t>1</a:t>
            </a:fld>
            <a:endParaRPr lang="en-US"/>
          </a:p>
        </p:txBody>
      </p:sp>
    </p:spTree>
    <p:extLst>
      <p:ext uri="{BB962C8B-B14F-4D97-AF65-F5344CB8AC3E}">
        <p14:creationId xmlns:p14="http://schemas.microsoft.com/office/powerpoint/2010/main" val="313147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A7006-E98E-CC57-58B7-3CE6028A8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5F04D0-EE8E-9CD1-39B2-72EC2A324A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15D124-1941-C926-AA63-B578E5863212}"/>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8C18F9ED-BDA3-1D55-EA46-13B56216E7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2F818-4C48-D1F3-92FF-9587A2091AC5}"/>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912976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7A35A-8624-D355-00A3-6FF22758C6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A62282-666F-A5A3-2B89-67A928E798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19CDA-341D-7F9C-214D-16B559921942}"/>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AAEA999D-28B5-6E18-242F-1E41F02F5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7897E-1E35-5531-E13A-53EF9C3A55CE}"/>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71642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AA4F1-4A5C-6CE3-914C-DF41C236F2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EA423-F10C-827E-0386-EA8EBDDAA4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D28EA9-0CA6-BCD3-DA5A-3F0194F5F4E3}"/>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02582A12-951F-FC1F-22B4-8B6B79B726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DE09A-8C8D-2971-D83B-36E68E5F7423}"/>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28688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D7F79-D64B-D9D9-C025-1574A6F4A7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14FD30-9CC1-837A-7F08-9B504379BF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7DBDA2-0E4B-AAB8-3966-4A186FA477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D89693-1518-E010-56EB-C3E518A5FE74}"/>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6" name="Footer Placeholder 5">
            <a:extLst>
              <a:ext uri="{FF2B5EF4-FFF2-40B4-BE49-F238E27FC236}">
                <a16:creationId xmlns:a16="http://schemas.microsoft.com/office/drawing/2014/main" id="{9829EE0C-1F72-31F3-C1C1-4366142E7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F4C14-C69C-8F47-1E2D-8357E413125B}"/>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758704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2CCF0-B2B3-F08D-7B5F-A010778B38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FF4126-E669-F73D-FB4B-79C48E8A15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6B2E0D-25C0-8292-8CD1-6B33F61A93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F0B481-D3CB-DE01-2995-A44D4C211B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E7C552-5E53-5399-2AD7-32E84C5E5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6EE989-DDA4-8187-A1B6-F2630B55CD89}"/>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8" name="Footer Placeholder 7">
            <a:extLst>
              <a:ext uri="{FF2B5EF4-FFF2-40B4-BE49-F238E27FC236}">
                <a16:creationId xmlns:a16="http://schemas.microsoft.com/office/drawing/2014/main" id="{ADB6E150-444E-6F99-E443-3913ECDC2A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A362CE-DB35-EDBD-31C4-146106456B90}"/>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55599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DFF1D-7FD1-514A-FE28-48155E656C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004B71-18A7-BE46-062E-2F753BF8A04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4" name="Footer Placeholder 3">
            <a:extLst>
              <a:ext uri="{FF2B5EF4-FFF2-40B4-BE49-F238E27FC236}">
                <a16:creationId xmlns:a16="http://schemas.microsoft.com/office/drawing/2014/main" id="{3A5FD419-D249-C079-96E2-46C4001DFE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B1FAEE-560E-73B4-C458-EE03120D4092}"/>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5747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FC9ABD-C7F0-02F0-D426-B0FF6FA2C3E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3" name="Footer Placeholder 2">
            <a:extLst>
              <a:ext uri="{FF2B5EF4-FFF2-40B4-BE49-F238E27FC236}">
                <a16:creationId xmlns:a16="http://schemas.microsoft.com/office/drawing/2014/main" id="{37017D44-A2EC-22AA-5F2E-F4288CB451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3A641D-A084-977D-0686-8D70BBF041D6}"/>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12733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3F01-CD51-8CBE-9440-A52239599A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B7074B-DF91-0704-4BAD-D42D0C9AE0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EA8609-E9F5-208B-71CC-44D614016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A97727-CF2A-CAC1-D70A-F586524378B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6" name="Footer Placeholder 5">
            <a:extLst>
              <a:ext uri="{FF2B5EF4-FFF2-40B4-BE49-F238E27FC236}">
                <a16:creationId xmlns:a16="http://schemas.microsoft.com/office/drawing/2014/main" id="{2C5938EF-D661-DA1A-FEE6-FE0E3ED8B4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FA4657-FD66-DAE6-08E6-5D3182F848B3}"/>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275727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291A-64CD-DB18-A1BF-8A0B5343F1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45E7D3-012A-F472-4D02-DE9C1F00A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FBC906-8F51-523B-B07A-2E7C55E38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0E6B7-FCE1-C4BD-CEC6-1CCEECC0B4AF}"/>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6" name="Footer Placeholder 5">
            <a:extLst>
              <a:ext uri="{FF2B5EF4-FFF2-40B4-BE49-F238E27FC236}">
                <a16:creationId xmlns:a16="http://schemas.microsoft.com/office/drawing/2014/main" id="{871A209E-27FE-0773-7C4B-CEBC92522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E13814-322F-88AC-BDFA-4E9EC9959CE8}"/>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349236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D9B5-2638-5040-37C6-CD014F4102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F1194C-40E5-7A0D-FFD2-DAD51A0529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B26188-7928-3BE0-412F-E27136C3BFF3}"/>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81D744D5-E27A-809A-1AF7-3D31456AE2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B6A23-2053-DD65-E19A-BE22691FE96A}"/>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947749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39525B-3420-FB6E-7D10-4B3DB04C01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8BBA8D-368E-2CDA-7AC7-7924B2D11B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FCF1A3-4C98-9C3A-FA9B-59C7069FDEA4}"/>
              </a:ext>
            </a:extLst>
          </p:cNvPr>
          <p:cNvSpPr>
            <a:spLocks noGrp="1"/>
          </p:cNvSpPr>
          <p:nvPr>
            <p:ph type="dt" sz="half" idx="10"/>
          </p:nvPr>
        </p:nvSpPr>
        <p:spPr/>
        <p:txBody>
          <a:body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0990A251-EFE5-5BB7-90F3-0DACFB930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FBE6F-AB22-5891-6017-1E906432840D}"/>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08031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D2AD6F-2AC8-CA1D-9C34-762876730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0CC94-214D-8020-A83A-0DA53DABD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9AA69D-ACEE-37E5-A737-5AE12982D1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BB803D-B7F2-D14C-A011-15F9D3AF074C}" type="datetimeFigureOut">
              <a:rPr lang="en-US" smtClean="0"/>
              <a:t>4/7/2025</a:t>
            </a:fld>
            <a:endParaRPr lang="en-US"/>
          </a:p>
        </p:txBody>
      </p:sp>
      <p:sp>
        <p:nvSpPr>
          <p:cNvPr id="5" name="Footer Placeholder 4">
            <a:extLst>
              <a:ext uri="{FF2B5EF4-FFF2-40B4-BE49-F238E27FC236}">
                <a16:creationId xmlns:a16="http://schemas.microsoft.com/office/drawing/2014/main" id="{80FAC866-39B1-E8F8-D62A-457ED4D09B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3DAEA5-89BC-3D88-3667-A188500E1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63E25E-D229-E84A-84DD-83D9D8018263}" type="slidenum">
              <a:rPr lang="en-US" smtClean="0"/>
              <a:t>‹#›</a:t>
            </a:fld>
            <a:endParaRPr lang="en-US"/>
          </a:p>
        </p:txBody>
      </p:sp>
    </p:spTree>
    <p:extLst>
      <p:ext uri="{BB962C8B-B14F-4D97-AF65-F5344CB8AC3E}">
        <p14:creationId xmlns:p14="http://schemas.microsoft.com/office/powerpoint/2010/main" val="1435513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naturalist.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D27A-D36D-591D-29F0-1F0470E6291E}"/>
              </a:ext>
            </a:extLst>
          </p:cNvPr>
          <p:cNvSpPr>
            <a:spLocks noGrp="1"/>
          </p:cNvSpPr>
          <p:nvPr>
            <p:ph type="ctrTitle"/>
          </p:nvPr>
        </p:nvSpPr>
        <p:spPr>
          <a:xfrm>
            <a:off x="199697" y="1"/>
            <a:ext cx="11866174" cy="662151"/>
          </a:xfrm>
        </p:spPr>
        <p:txBody>
          <a:bodyPr>
            <a:noAutofit/>
          </a:bodyPr>
          <a:lstStyle/>
          <a:p>
            <a:r>
              <a:rPr lang="en-US" sz="4400" b="1" dirty="0">
                <a:solidFill>
                  <a:srgbClr val="3C1053"/>
                </a:solidFill>
              </a:rPr>
              <a:t>Offline Louisiana Insect Classifier</a:t>
            </a:r>
          </a:p>
        </p:txBody>
      </p:sp>
      <p:cxnSp>
        <p:nvCxnSpPr>
          <p:cNvPr id="5" name="Straight Connector 4">
            <a:extLst>
              <a:ext uri="{FF2B5EF4-FFF2-40B4-BE49-F238E27FC236}">
                <a16:creationId xmlns:a16="http://schemas.microsoft.com/office/drawing/2014/main" id="{6BAB4D92-3FC9-B632-F5B4-8F49A5DB6023}"/>
              </a:ext>
            </a:extLst>
          </p:cNvPr>
          <p:cNvCxnSpPr>
            <a:cxnSpLocks/>
          </p:cNvCxnSpPr>
          <p:nvPr/>
        </p:nvCxnSpPr>
        <p:spPr>
          <a:xfrm>
            <a:off x="6096000" y="1234305"/>
            <a:ext cx="0" cy="5512484"/>
          </a:xfrm>
          <a:prstGeom prst="line">
            <a:avLst/>
          </a:prstGeom>
          <a:ln w="28575">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04BA938-9A6D-DA2E-F533-38B84A110683}"/>
              </a:ext>
            </a:extLst>
          </p:cNvPr>
          <p:cNvCxnSpPr>
            <a:cxnSpLocks/>
          </p:cNvCxnSpPr>
          <p:nvPr/>
        </p:nvCxnSpPr>
        <p:spPr>
          <a:xfrm>
            <a:off x="199697" y="4056990"/>
            <a:ext cx="11866174" cy="0"/>
          </a:xfrm>
          <a:prstGeom prst="line">
            <a:avLst/>
          </a:prstGeom>
          <a:ln w="28575">
            <a:solidFill>
              <a:srgbClr val="7030A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4B28D7F-884C-C5FA-A457-A97E6B230ACA}"/>
              </a:ext>
            </a:extLst>
          </p:cNvPr>
          <p:cNvSpPr txBox="1"/>
          <p:nvPr/>
        </p:nvSpPr>
        <p:spPr>
          <a:xfrm>
            <a:off x="1597571" y="1234305"/>
            <a:ext cx="2800447" cy="369332"/>
          </a:xfrm>
          <a:prstGeom prst="rect">
            <a:avLst/>
          </a:prstGeom>
          <a:noFill/>
        </p:spPr>
        <p:txBody>
          <a:bodyPr wrap="none" rtlCol="0">
            <a:spAutoFit/>
          </a:bodyPr>
          <a:lstStyle/>
          <a:p>
            <a:pPr algn="ctr"/>
            <a:r>
              <a:rPr lang="en-US" b="1" dirty="0">
                <a:solidFill>
                  <a:srgbClr val="3C1053"/>
                </a:solidFill>
              </a:rPr>
              <a:t>Background &amp; Motivation</a:t>
            </a:r>
          </a:p>
        </p:txBody>
      </p:sp>
      <p:sp>
        <p:nvSpPr>
          <p:cNvPr id="10" name="TextBox 9">
            <a:extLst>
              <a:ext uri="{FF2B5EF4-FFF2-40B4-BE49-F238E27FC236}">
                <a16:creationId xmlns:a16="http://schemas.microsoft.com/office/drawing/2014/main" id="{8C8D7ED3-843C-E9FE-53A0-EE4768B01EFA}"/>
              </a:ext>
            </a:extLst>
          </p:cNvPr>
          <p:cNvSpPr txBox="1"/>
          <p:nvPr/>
        </p:nvSpPr>
        <p:spPr>
          <a:xfrm>
            <a:off x="1402686" y="4121189"/>
            <a:ext cx="3190232" cy="369332"/>
          </a:xfrm>
          <a:prstGeom prst="rect">
            <a:avLst/>
          </a:prstGeom>
          <a:noFill/>
        </p:spPr>
        <p:txBody>
          <a:bodyPr wrap="none" rtlCol="0">
            <a:spAutoFit/>
          </a:bodyPr>
          <a:lstStyle/>
          <a:p>
            <a:pPr algn="ctr"/>
            <a:r>
              <a:rPr lang="en-US" b="1" dirty="0">
                <a:solidFill>
                  <a:srgbClr val="3C1053"/>
                </a:solidFill>
              </a:rPr>
              <a:t>Possible Technical Approach</a:t>
            </a:r>
          </a:p>
        </p:txBody>
      </p:sp>
      <p:sp>
        <p:nvSpPr>
          <p:cNvPr id="13" name="TextBox 12">
            <a:extLst>
              <a:ext uri="{FF2B5EF4-FFF2-40B4-BE49-F238E27FC236}">
                <a16:creationId xmlns:a16="http://schemas.microsoft.com/office/drawing/2014/main" id="{ECE22DC1-B519-24C1-2BCC-5C083F1A1019}"/>
              </a:ext>
            </a:extLst>
          </p:cNvPr>
          <p:cNvSpPr txBox="1"/>
          <p:nvPr/>
        </p:nvSpPr>
        <p:spPr>
          <a:xfrm>
            <a:off x="8481848" y="1234305"/>
            <a:ext cx="1588576" cy="369332"/>
          </a:xfrm>
          <a:prstGeom prst="rect">
            <a:avLst/>
          </a:prstGeom>
          <a:noFill/>
        </p:spPr>
        <p:txBody>
          <a:bodyPr wrap="none" rtlCol="0">
            <a:spAutoFit/>
          </a:bodyPr>
          <a:lstStyle/>
          <a:p>
            <a:pPr algn="ctr"/>
            <a:r>
              <a:rPr lang="en-US" b="1" dirty="0">
                <a:solidFill>
                  <a:srgbClr val="3C1053"/>
                </a:solidFill>
              </a:rPr>
              <a:t>Data Sources</a:t>
            </a:r>
          </a:p>
        </p:txBody>
      </p:sp>
      <p:sp>
        <p:nvSpPr>
          <p:cNvPr id="14" name="TextBox 13">
            <a:extLst>
              <a:ext uri="{FF2B5EF4-FFF2-40B4-BE49-F238E27FC236}">
                <a16:creationId xmlns:a16="http://schemas.microsoft.com/office/drawing/2014/main" id="{90F5EAA2-693E-A3E6-6AAB-541DCA45C316}"/>
              </a:ext>
            </a:extLst>
          </p:cNvPr>
          <p:cNvSpPr txBox="1"/>
          <p:nvPr/>
        </p:nvSpPr>
        <p:spPr>
          <a:xfrm>
            <a:off x="8091137" y="4121189"/>
            <a:ext cx="2370008" cy="369332"/>
          </a:xfrm>
          <a:prstGeom prst="rect">
            <a:avLst/>
          </a:prstGeom>
          <a:noFill/>
        </p:spPr>
        <p:txBody>
          <a:bodyPr wrap="none" rtlCol="0">
            <a:spAutoFit/>
          </a:bodyPr>
          <a:lstStyle/>
          <a:p>
            <a:pPr algn="ctr"/>
            <a:r>
              <a:rPr lang="en-US" b="1" dirty="0">
                <a:solidFill>
                  <a:srgbClr val="3C1053"/>
                </a:solidFill>
              </a:rPr>
              <a:t>Impact &amp; References</a:t>
            </a:r>
          </a:p>
        </p:txBody>
      </p:sp>
      <p:sp>
        <p:nvSpPr>
          <p:cNvPr id="15" name="TextBox 14">
            <a:extLst>
              <a:ext uri="{FF2B5EF4-FFF2-40B4-BE49-F238E27FC236}">
                <a16:creationId xmlns:a16="http://schemas.microsoft.com/office/drawing/2014/main" id="{6F6E11F8-EFE4-D1CC-FE77-A0829277FA45}"/>
              </a:ext>
            </a:extLst>
          </p:cNvPr>
          <p:cNvSpPr txBox="1"/>
          <p:nvPr/>
        </p:nvSpPr>
        <p:spPr>
          <a:xfrm>
            <a:off x="199697" y="573213"/>
            <a:ext cx="1186617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3C1053"/>
                </a:solidFill>
              </a:rPr>
              <a:t>Bottom Line Up Front: </a:t>
            </a:r>
            <a:r>
              <a:rPr lang="en-US" dirty="0">
                <a:solidFill>
                  <a:srgbClr val="3C1053"/>
                </a:solidFill>
              </a:rPr>
              <a:t>An offline insect classifier for the state of Louisiana is to be created. The system will be able to run offline in an embedded system, allowing use in precision pest management solutions.</a:t>
            </a:r>
            <a:endParaRPr lang="en-US" b="1" dirty="0">
              <a:solidFill>
                <a:srgbClr val="3C1053"/>
              </a:solidFill>
            </a:endParaRPr>
          </a:p>
        </p:txBody>
      </p:sp>
      <p:sp>
        <p:nvSpPr>
          <p:cNvPr id="16" name="TextBox 15">
            <a:extLst>
              <a:ext uri="{FF2B5EF4-FFF2-40B4-BE49-F238E27FC236}">
                <a16:creationId xmlns:a16="http://schemas.microsoft.com/office/drawing/2014/main" id="{D47F85D1-3D2E-7DF5-D01E-2A0296E23495}"/>
              </a:ext>
            </a:extLst>
          </p:cNvPr>
          <p:cNvSpPr txBox="1"/>
          <p:nvPr/>
        </p:nvSpPr>
        <p:spPr>
          <a:xfrm>
            <a:off x="48667" y="1667835"/>
            <a:ext cx="5898254" cy="1169551"/>
          </a:xfrm>
          <a:prstGeom prst="rect">
            <a:avLst/>
          </a:prstGeom>
          <a:noFill/>
        </p:spPr>
        <p:txBody>
          <a:bodyPr wrap="square" rtlCol="0">
            <a:spAutoFit/>
          </a:bodyPr>
          <a:lstStyle/>
          <a:p>
            <a:r>
              <a:rPr lang="en-US" sz="1400" dirty="0">
                <a:solidFill>
                  <a:srgbClr val="3C1053"/>
                </a:solidFill>
              </a:rPr>
              <a:t>An insect identification system for the state of Louisiana would bring many benefits to the world of agriculture. This system will also be able to work offline, allowing systems without internet access to still participate in identification. Traditionally, such identification systems have been Online (limiting actual use in the field) and for the entire US (limiting accuracy).</a:t>
            </a:r>
          </a:p>
        </p:txBody>
      </p:sp>
      <p:sp>
        <p:nvSpPr>
          <p:cNvPr id="19" name="TextBox 18">
            <a:extLst>
              <a:ext uri="{FF2B5EF4-FFF2-40B4-BE49-F238E27FC236}">
                <a16:creationId xmlns:a16="http://schemas.microsoft.com/office/drawing/2014/main" id="{1AB0F8D2-8DE5-4972-DA09-5FC9752E8B14}"/>
              </a:ext>
            </a:extLst>
          </p:cNvPr>
          <p:cNvSpPr txBox="1"/>
          <p:nvPr/>
        </p:nvSpPr>
        <p:spPr>
          <a:xfrm>
            <a:off x="48667" y="4490520"/>
            <a:ext cx="5898254" cy="2031325"/>
          </a:xfrm>
          <a:prstGeom prst="rect">
            <a:avLst/>
          </a:prstGeom>
          <a:noFill/>
        </p:spPr>
        <p:txBody>
          <a:bodyPr wrap="square" rtlCol="0">
            <a:spAutoFit/>
          </a:bodyPr>
          <a:lstStyle/>
          <a:p>
            <a:r>
              <a:rPr lang="en-US" sz="1400" dirty="0">
                <a:solidFill>
                  <a:srgbClr val="3C1053"/>
                </a:solidFill>
              </a:rPr>
              <a:t>Once the insect dataset has been curated, the problem becomes a simple classification issue. In the past, architectures such as </a:t>
            </a:r>
            <a:r>
              <a:rPr lang="en-US" sz="1400" dirty="0" err="1">
                <a:solidFill>
                  <a:srgbClr val="3C1053"/>
                </a:solidFill>
              </a:rPr>
              <a:t>ResNet</a:t>
            </a:r>
            <a:r>
              <a:rPr lang="en-US" sz="1400" dirty="0">
                <a:solidFill>
                  <a:srgbClr val="3C1053"/>
                </a:solidFill>
              </a:rPr>
              <a:t> have worked to get to accuracies up to 92 percent. As such, I hypothesize that a </a:t>
            </a:r>
            <a:r>
              <a:rPr lang="en-US" sz="1400" dirty="0" err="1">
                <a:solidFill>
                  <a:srgbClr val="3C1053"/>
                </a:solidFill>
              </a:rPr>
              <a:t>louisiana</a:t>
            </a:r>
            <a:r>
              <a:rPr lang="en-US" sz="1400" dirty="0">
                <a:solidFill>
                  <a:srgbClr val="3C1053"/>
                </a:solidFill>
              </a:rPr>
              <a:t>-specific model will be able to achieve a higher accuracy using the same architecture, or using a transfer-learning approach. Another approach is to use a Vision Transformer instead of a </a:t>
            </a:r>
            <a:r>
              <a:rPr lang="en-US" sz="1400" dirty="0" err="1">
                <a:solidFill>
                  <a:srgbClr val="3C1053"/>
                </a:solidFill>
              </a:rPr>
              <a:t>ResNet</a:t>
            </a:r>
            <a:r>
              <a:rPr lang="en-US" sz="1400" dirty="0">
                <a:solidFill>
                  <a:srgbClr val="3C1053"/>
                </a:solidFill>
              </a:rPr>
              <a:t>. However, the offline constraint will limit the size of the model. Thus, a model can be trained online, but will have to be compressed to run inference offline. This can maybe be achieved via LoRa or other entropy-based approaches.</a:t>
            </a:r>
          </a:p>
        </p:txBody>
      </p:sp>
      <p:sp>
        <p:nvSpPr>
          <p:cNvPr id="20" name="TextBox 19">
            <a:extLst>
              <a:ext uri="{FF2B5EF4-FFF2-40B4-BE49-F238E27FC236}">
                <a16:creationId xmlns:a16="http://schemas.microsoft.com/office/drawing/2014/main" id="{4388EBE6-7388-3DE2-433D-D2EDCC106706}"/>
              </a:ext>
            </a:extLst>
          </p:cNvPr>
          <p:cNvSpPr txBox="1"/>
          <p:nvPr/>
        </p:nvSpPr>
        <p:spPr>
          <a:xfrm>
            <a:off x="6290900" y="4490520"/>
            <a:ext cx="5898254" cy="2246769"/>
          </a:xfrm>
          <a:prstGeom prst="rect">
            <a:avLst/>
          </a:prstGeom>
          <a:noFill/>
        </p:spPr>
        <p:txBody>
          <a:bodyPr wrap="square" rtlCol="0">
            <a:spAutoFit/>
          </a:bodyPr>
          <a:lstStyle/>
          <a:p>
            <a:r>
              <a:rPr lang="en-US" sz="1400" dirty="0">
                <a:solidFill>
                  <a:srgbClr val="3C1053"/>
                </a:solidFill>
              </a:rPr>
              <a:t>If this project were to be successful, embedded devices such as Precision Pest Management robots would have the ability to identify insects and administer pesticides, potentially increasing the yield of a farmer’s crop. This will potentially increase a farmer’s profits, which will spread out through the economy. </a:t>
            </a:r>
          </a:p>
          <a:p>
            <a:r>
              <a:rPr lang="en-US" sz="1400" dirty="0">
                <a:solidFill>
                  <a:srgbClr val="3C1053"/>
                </a:solidFill>
              </a:rPr>
              <a:t>I will be working with Dr. Grijalva of LSU Ag Engineering for a more thorough solution, but creation of this classifier is the first step. In addition, my company, </a:t>
            </a:r>
            <a:r>
              <a:rPr lang="en-US" sz="1400" dirty="0" err="1">
                <a:solidFill>
                  <a:srgbClr val="3C1053"/>
                </a:solidFill>
              </a:rPr>
              <a:t>FarmSmart</a:t>
            </a:r>
            <a:r>
              <a:rPr lang="en-US" sz="1400" dirty="0">
                <a:solidFill>
                  <a:srgbClr val="3C1053"/>
                </a:solidFill>
              </a:rPr>
              <a:t>, can then host online versions of this model and have the offline versions downloaded via our app, and we can extend this model to include all US states.</a:t>
            </a:r>
          </a:p>
        </p:txBody>
      </p:sp>
      <p:sp>
        <p:nvSpPr>
          <p:cNvPr id="21" name="TextBox 20">
            <a:extLst>
              <a:ext uri="{FF2B5EF4-FFF2-40B4-BE49-F238E27FC236}">
                <a16:creationId xmlns:a16="http://schemas.microsoft.com/office/drawing/2014/main" id="{3C89E786-E238-2D31-56BC-0DA00EB48F34}"/>
              </a:ext>
            </a:extLst>
          </p:cNvPr>
          <p:cNvSpPr txBox="1"/>
          <p:nvPr/>
        </p:nvSpPr>
        <p:spPr>
          <a:xfrm>
            <a:off x="6327009" y="1617559"/>
            <a:ext cx="5898254" cy="1815882"/>
          </a:xfrm>
          <a:prstGeom prst="rect">
            <a:avLst/>
          </a:prstGeom>
          <a:noFill/>
        </p:spPr>
        <p:txBody>
          <a:bodyPr wrap="square" rtlCol="0">
            <a:spAutoFit/>
          </a:bodyPr>
          <a:lstStyle/>
          <a:p>
            <a:r>
              <a:rPr lang="en-US" sz="1400" dirty="0" err="1">
                <a:solidFill>
                  <a:srgbClr val="3C1053"/>
                </a:solidFill>
              </a:rPr>
              <a:t>iNaturalist</a:t>
            </a:r>
            <a:r>
              <a:rPr lang="en-US" sz="1400" dirty="0">
                <a:solidFill>
                  <a:srgbClr val="3C1053"/>
                </a:solidFill>
              </a:rPr>
              <a:t> is a gigantic database of pictures of identified insects, and consists of over 500k different species. In order to complete this project, I will be collecting and receiving  a list of Louisiana-specific insects, cross examining the picture labels with the received list, and extracting all matches. There is likely to be a bias toward common insects, so dataset normalization is needed.</a:t>
            </a:r>
          </a:p>
          <a:p>
            <a:endParaRPr lang="en-US" sz="1400" dirty="0">
              <a:solidFill>
                <a:srgbClr val="3C1053"/>
              </a:solidFill>
            </a:endParaRPr>
          </a:p>
          <a:p>
            <a:r>
              <a:rPr lang="en-US" sz="1400" dirty="0">
                <a:hlinkClick r:id="rId3"/>
              </a:rPr>
              <a:t>A Community for Naturalists · </a:t>
            </a:r>
            <a:r>
              <a:rPr lang="en-US" sz="1400" dirty="0" err="1">
                <a:hlinkClick r:id="rId3"/>
              </a:rPr>
              <a:t>iNaturalist</a:t>
            </a:r>
            <a:endParaRPr lang="en-US" sz="1400" dirty="0">
              <a:solidFill>
                <a:srgbClr val="3C1053"/>
              </a:solidFill>
            </a:endParaRPr>
          </a:p>
        </p:txBody>
      </p:sp>
    </p:spTree>
    <p:extLst>
      <p:ext uri="{BB962C8B-B14F-4D97-AF65-F5344CB8AC3E}">
        <p14:creationId xmlns:p14="http://schemas.microsoft.com/office/powerpoint/2010/main" val="1350044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436</Words>
  <Application>Microsoft Office PowerPoint</Application>
  <PresentationFormat>Widescreen</PresentationFormat>
  <Paragraphs>14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Offline Louisiana Insect Classifier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M Ghawaly</dc:creator>
  <cp:lastModifiedBy>Grant Muslow</cp:lastModifiedBy>
  <cp:revision>2</cp:revision>
  <dcterms:created xsi:type="dcterms:W3CDTF">2025-03-26T15:51:53Z</dcterms:created>
  <dcterms:modified xsi:type="dcterms:W3CDTF">2025-04-07T15:19:32Z</dcterms:modified>
</cp:coreProperties>
</file>